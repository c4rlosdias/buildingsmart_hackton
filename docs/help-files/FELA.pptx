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61" r:id="rId14"/>
  </p:sldIdLst>
  <p:sldSz cx="12192000" cy="6858000"/>
  <p:notesSz cx="6858000" cy="9144000"/>
  <p:embeddedFontLst>
    <p:embeddedFont>
      <p:font typeface="Open Sans" panose="020F050202020403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gqx7QRaOX1RKVMZF6GrOpDTVty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2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1d02b2d58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3d1d02b2d5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1d02b2d58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3d1d02b2d5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 txBox="1">
            <a:spLocks noGrp="1"/>
          </p:cNvSpPr>
          <p:nvPr>
            <p:ph type="ftr" idx="11"/>
          </p:nvPr>
        </p:nvSpPr>
        <p:spPr>
          <a:xfrm>
            <a:off x="322729" y="6356349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/>
          <p:nvPr/>
        </p:nvSpPr>
        <p:spPr>
          <a:xfrm>
            <a:off x="-1" y="0"/>
            <a:ext cx="12192000" cy="3429000"/>
          </a:xfrm>
          <a:prstGeom prst="rect">
            <a:avLst/>
          </a:prstGeom>
          <a:solidFill>
            <a:srgbClr val="009EB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" name="Google Shape;13;p6" descr="A black and white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21379" y="-349288"/>
            <a:ext cx="3749239" cy="206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/>
          <p:nvPr/>
        </p:nvSpPr>
        <p:spPr>
          <a:xfrm>
            <a:off x="9957916" y="6270171"/>
            <a:ext cx="2234083" cy="5878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Google Shape;15;p6"/>
          <p:cNvSpPr txBox="1">
            <a:spLocks noGrp="1"/>
          </p:cNvSpPr>
          <p:nvPr>
            <p:ph type="subTitle" idx="1"/>
          </p:nvPr>
        </p:nvSpPr>
        <p:spPr>
          <a:xfrm>
            <a:off x="1523999" y="413308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ctrTitle"/>
          </p:nvPr>
        </p:nvSpPr>
        <p:spPr>
          <a:xfrm>
            <a:off x="1523999" y="1990505"/>
            <a:ext cx="9144000" cy="157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"/>
              <a:buNone/>
              <a:defRPr sz="3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Only">
  <p:cSld name="Pictur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Pictures">
  <p:cSld name="Two Picture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 with Link Tree">
  <p:cSld name="Thank You Slide with Link Tre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84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"/>
          <p:cNvSpPr txBox="1">
            <a:spLocks noGrp="1"/>
          </p:cNvSpPr>
          <p:nvPr>
            <p:ph type="ftr" idx="11"/>
          </p:nvPr>
        </p:nvSpPr>
        <p:spPr>
          <a:xfrm>
            <a:off x="322729" y="6356349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buildingSMART International 2026</a:t>
            </a:r>
            <a:endParaRPr/>
          </a:p>
        </p:txBody>
      </p:sp>
      <p:sp>
        <p:nvSpPr>
          <p:cNvPr id="29" name="Google Shape;29;p1"/>
          <p:cNvSpPr txBox="1">
            <a:spLocks noGrp="1"/>
          </p:cNvSpPr>
          <p:nvPr>
            <p:ph type="ctrTitle"/>
          </p:nvPr>
        </p:nvSpPr>
        <p:spPr>
          <a:xfrm>
            <a:off x="-2488" y="1853921"/>
            <a:ext cx="12191999" cy="157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"/>
              <a:buNone/>
            </a:pPr>
            <a:r>
              <a:rPr lang="en-GB" sz="4800"/>
              <a:t>1</a:t>
            </a:r>
            <a:r>
              <a:rPr lang="en-GB" sz="4800" baseline="30000"/>
              <a:t>st</a:t>
            </a:r>
            <a:r>
              <a:rPr lang="en-GB" sz="4800"/>
              <a:t> openBIM Hackathon, Porto 2026</a:t>
            </a: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322729" y="3685728"/>
            <a:ext cx="1982249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/>
          </a:p>
        </p:txBody>
      </p:sp>
      <p:sp>
        <p:nvSpPr>
          <p:cNvPr id="31" name="Google Shape;31;p1"/>
          <p:cNvSpPr txBox="1"/>
          <p:nvPr/>
        </p:nvSpPr>
        <p:spPr>
          <a:xfrm>
            <a:off x="322729" y="5063986"/>
            <a:ext cx="1982249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/>
          </a:p>
        </p:txBody>
      </p:sp>
      <p:pic>
        <p:nvPicPr>
          <p:cNvPr id="32" name="Google Shape;3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6601" y="4203659"/>
            <a:ext cx="2880000" cy="300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6060" y="3674517"/>
            <a:ext cx="2339400" cy="1358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09954" y="3758073"/>
            <a:ext cx="2339400" cy="1191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04978" y="5278414"/>
            <a:ext cx="3029632" cy="54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64231" y="5279334"/>
            <a:ext cx="2868966" cy="5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2"/>
          <p:cNvPicPr preferRelativeResize="0"/>
          <p:nvPr/>
        </p:nvPicPr>
        <p:blipFill rotWithShape="1">
          <a:blip r:embed="rId3">
            <a:alphaModFix amt="20000"/>
          </a:blip>
          <a:srcRect t="9987" b="5647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207079" y="5622606"/>
            <a:ext cx="1982249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6096000" y="5676411"/>
            <a:ext cx="1982249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/>
          </a:p>
        </p:txBody>
      </p:sp>
      <p:pic>
        <p:nvPicPr>
          <p:cNvPr id="44" name="Google Shape;4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9231" y="5805169"/>
            <a:ext cx="1578061" cy="916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05922" y="5825744"/>
            <a:ext cx="1578061" cy="80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2674" y="6064258"/>
            <a:ext cx="2515852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30906" y="6041537"/>
            <a:ext cx="2382433" cy="45141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 txBox="1"/>
          <p:nvPr/>
        </p:nvSpPr>
        <p:spPr>
          <a:xfrm>
            <a:off x="1835700" y="3249025"/>
            <a:ext cx="8520600" cy="12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>
                <a:solidFill>
                  <a:schemeClr val="dk1"/>
                </a:solidFill>
              </a:rPr>
              <a:t>FELA</a:t>
            </a:r>
            <a:endParaRPr sz="5200">
              <a:solidFill>
                <a:schemeClr val="dk1"/>
              </a:solidFill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1397400" y="1199863"/>
            <a:ext cx="9397200" cy="12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3380">
                <a:solidFill>
                  <a:schemeClr val="dk1"/>
                </a:solidFill>
              </a:rPr>
              <a:t>Federated Framework for Extended Engineering Linked Lifecycle Assets Architecture</a:t>
            </a:r>
            <a:endParaRPr sz="3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d1d02b2d58_0_2"/>
          <p:cNvPicPr preferRelativeResize="0"/>
          <p:nvPr/>
        </p:nvPicPr>
        <p:blipFill rotWithShape="1">
          <a:blip r:embed="rId3">
            <a:alphaModFix amt="20000"/>
          </a:blip>
          <a:srcRect t="9989" b="5644"/>
          <a:stretch/>
        </p:blipFill>
        <p:spPr>
          <a:xfrm>
            <a:off x="0" y="0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d1d02b2d58_0_2"/>
          <p:cNvSpPr txBox="1"/>
          <p:nvPr/>
        </p:nvSpPr>
        <p:spPr>
          <a:xfrm>
            <a:off x="207079" y="5622606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/>
          </a:p>
        </p:txBody>
      </p:sp>
      <p:sp>
        <p:nvSpPr>
          <p:cNvPr id="64" name="Google Shape;64;g3d1d02b2d58_0_2"/>
          <p:cNvSpPr txBox="1"/>
          <p:nvPr/>
        </p:nvSpPr>
        <p:spPr>
          <a:xfrm>
            <a:off x="6096000" y="5676411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/>
          </a:p>
        </p:txBody>
      </p:sp>
      <p:pic>
        <p:nvPicPr>
          <p:cNvPr id="65" name="Google Shape;65;g3d1d02b2d58_0_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g3d1d02b2d58_0_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9231" y="5805169"/>
            <a:ext cx="1578059" cy="916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g3d1d02b2d58_0_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05922" y="5825744"/>
            <a:ext cx="1578059" cy="80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g3d1d02b2d58_0_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2674" y="6064258"/>
            <a:ext cx="2515855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d1d02b2d58_0_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30906" y="6041537"/>
            <a:ext cx="2382433" cy="45141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d1d02b2d58_0_2"/>
          <p:cNvSpPr txBox="1"/>
          <p:nvPr/>
        </p:nvSpPr>
        <p:spPr>
          <a:xfrm>
            <a:off x="935175" y="2446775"/>
            <a:ext cx="10622700" cy="17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3380">
                <a:solidFill>
                  <a:schemeClr val="dk1"/>
                </a:solidFill>
              </a:rPr>
              <a:t>Using InfoBIM open source project to check IFC models against engineering standards, by structuring domain knowledge so AI behaves deterministically.</a:t>
            </a:r>
            <a:endParaRPr sz="3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3d1d02b2d58_0_29"/>
          <p:cNvPicPr preferRelativeResize="0"/>
          <p:nvPr/>
        </p:nvPicPr>
        <p:blipFill rotWithShape="1">
          <a:blip r:embed="rId3">
            <a:alphaModFix amt="20000"/>
          </a:blip>
          <a:srcRect t="9989" b="5644"/>
          <a:stretch/>
        </p:blipFill>
        <p:spPr>
          <a:xfrm>
            <a:off x="0" y="0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d1d02b2d58_0_29"/>
          <p:cNvSpPr txBox="1"/>
          <p:nvPr/>
        </p:nvSpPr>
        <p:spPr>
          <a:xfrm>
            <a:off x="207079" y="5622606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/>
          </a:p>
        </p:txBody>
      </p:sp>
      <p:sp>
        <p:nvSpPr>
          <p:cNvPr id="89" name="Google Shape;89;g3d1d02b2d58_0_29"/>
          <p:cNvSpPr txBox="1"/>
          <p:nvPr/>
        </p:nvSpPr>
        <p:spPr>
          <a:xfrm>
            <a:off x="6096000" y="5676411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/>
          </a:p>
        </p:txBody>
      </p:sp>
      <p:pic>
        <p:nvPicPr>
          <p:cNvPr id="90" name="Google Shape;90;g3d1d02b2d58_0_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d1d02b2d58_0_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9231" y="5805169"/>
            <a:ext cx="1578059" cy="916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3d1d02b2d58_0_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05922" y="5825744"/>
            <a:ext cx="1578059" cy="80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d1d02b2d58_0_2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2674" y="6064258"/>
            <a:ext cx="2515855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d1d02b2d58_0_2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30906" y="6041537"/>
            <a:ext cx="2382433" cy="451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SI Colour Palette">
      <a:dk1>
        <a:srgbClr val="000000"/>
      </a:dk1>
      <a:lt1>
        <a:srgbClr val="FFFFFF"/>
      </a:lt1>
      <a:dk2>
        <a:srgbClr val="004F9F"/>
      </a:dk2>
      <a:lt2>
        <a:srgbClr val="E5172A"/>
      </a:lt2>
      <a:accent1>
        <a:srgbClr val="9F3488"/>
      </a:accent1>
      <a:accent2>
        <a:srgbClr val="009EB0"/>
      </a:accent2>
      <a:accent3>
        <a:srgbClr val="E3E3E3"/>
      </a:accent3>
      <a:accent4>
        <a:srgbClr val="344B55"/>
      </a:accent4>
      <a:accent5>
        <a:srgbClr val="48BF91"/>
      </a:accent5>
      <a:accent6>
        <a:srgbClr val="041E41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Widescreen</PresentationFormat>
  <Paragraphs>13</Paragraphs>
  <Slides>13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Open Sans</vt:lpstr>
      <vt:lpstr>Office Theme</vt:lpstr>
      <vt:lpstr>1st openBIM Hackathon, Porto 2026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Aidan Mercer</dc:creator>
  <cp:lastModifiedBy>Flavio Magno</cp:lastModifiedBy>
  <cp:revision>1</cp:revision>
  <dcterms:created xsi:type="dcterms:W3CDTF">2024-06-09T19:28:07Z</dcterms:created>
  <dcterms:modified xsi:type="dcterms:W3CDTF">2026-03-23T15:11:41Z</dcterms:modified>
</cp:coreProperties>
</file>