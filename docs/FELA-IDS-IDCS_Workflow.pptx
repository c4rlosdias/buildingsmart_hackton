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embeddedFontLs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Zdq/9M6JMmpYGwMsB1GHeu71w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6.xml"/><Relationship Id="rId21" Type="http://schemas.openxmlformats.org/officeDocument/2006/relationships/font" Target="fonts/Open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OpenSans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1d02b2d58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d1d02b2d58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d4ee3d49_0_2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d1d4ee3d49_0_2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1d02b2d58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3d1d02b2d58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1d4ee3d49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d1d4ee3d49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1d4ee3d49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d1d4ee3d49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1d4ee3d49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d1d4ee3d49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1d4ee3d49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d1d4ee3d49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1d4ee3d49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d1d4ee3d49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1d4ee3d49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d1d4ee3d49_0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1d4ee3d49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d1d4ee3d49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1d4ee3d49_0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d1d4ee3d49_0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1d4ee3d49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d1d4ee3d49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idx="11" type="ftr"/>
          </p:nvPr>
        </p:nvSpPr>
        <p:spPr>
          <a:xfrm>
            <a:off x="322729" y="6356349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p6"/>
          <p:cNvSpPr/>
          <p:nvPr/>
        </p:nvSpPr>
        <p:spPr>
          <a:xfrm>
            <a:off x="-1" y="0"/>
            <a:ext cx="12192000" cy="3429000"/>
          </a:xfrm>
          <a:prstGeom prst="rect">
            <a:avLst/>
          </a:prstGeom>
          <a:solidFill>
            <a:srgbClr val="009E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A black and white logo" id="13" name="Google Shape;1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21379" y="-349288"/>
            <a:ext cx="3749239" cy="2063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57916" y="6270171"/>
            <a:ext cx="2234083" cy="5878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15;p6"/>
          <p:cNvSpPr txBox="1"/>
          <p:nvPr>
            <p:ph idx="1" type="subTitle"/>
          </p:nvPr>
        </p:nvSpPr>
        <p:spPr>
          <a:xfrm>
            <a:off x="1523999" y="413308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type="ctrTitle"/>
          </p:nvPr>
        </p:nvSpPr>
        <p:spPr>
          <a:xfrm>
            <a:off x="1523999" y="1990505"/>
            <a:ext cx="9144000" cy="1575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  <a:defRPr b="0" i="0" sz="3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Only">
  <p:cSld name="Pictur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ictures">
  <p:cSld name="Two Picture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 with Link Tree">
  <p:cSld name="Thank You Slide with Link Tre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10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9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10" Type="http://schemas.openxmlformats.org/officeDocument/2006/relationships/image" Target="../media/image21.png"/><Relationship Id="rId9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9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9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10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22729" y="6356349"/>
            <a:ext cx="3733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© buildingSMART International 2026</a:t>
            </a:r>
            <a:endParaRPr/>
          </a:p>
        </p:txBody>
      </p:sp>
      <p:sp>
        <p:nvSpPr>
          <p:cNvPr id="29" name="Google Shape;29;p1"/>
          <p:cNvSpPr txBox="1"/>
          <p:nvPr>
            <p:ph type="ctrTitle"/>
          </p:nvPr>
        </p:nvSpPr>
        <p:spPr>
          <a:xfrm>
            <a:off x="-2488" y="1853921"/>
            <a:ext cx="12191999" cy="1575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</a:pPr>
            <a:r>
              <a:rPr lang="en-GB" sz="4800"/>
              <a:t>1</a:t>
            </a:r>
            <a:r>
              <a:rPr baseline="30000" lang="en-GB" sz="4800"/>
              <a:t>st</a:t>
            </a:r>
            <a:r>
              <a:rPr lang="en-GB" sz="4800"/>
              <a:t> openBIM Hackathon, Porto 2026</a:t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322729" y="3685728"/>
            <a:ext cx="1982249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322729" y="5063986"/>
            <a:ext cx="1982249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6601" y="4203659"/>
            <a:ext cx="2880000" cy="300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6060" y="3674517"/>
            <a:ext cx="2339400" cy="135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09954" y="3758073"/>
            <a:ext cx="2339400" cy="1191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04978" y="5278414"/>
            <a:ext cx="3029632" cy="54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4231" y="5279334"/>
            <a:ext cx="2868966" cy="5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"/>
          <p:cNvPicPr preferRelativeResize="0"/>
          <p:nvPr/>
        </p:nvPicPr>
        <p:blipFill rotWithShape="1">
          <a:blip r:embed="rId3">
            <a:alphaModFix amt="20000"/>
          </a:blip>
          <a:srcRect b="5647" l="0" r="0" t="9987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207079" y="5622606"/>
            <a:ext cx="1982249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6096000" y="5676411"/>
            <a:ext cx="1982249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61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61" cy="80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2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3" cy="45141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1835700" y="3249025"/>
            <a:ext cx="8520600" cy="12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-GB" sz="5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FELA</a:t>
            </a:r>
            <a:endParaRPr b="0" i="0" sz="5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1397400" y="1199863"/>
            <a:ext cx="9397200" cy="12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0" i="0" lang="en-GB" sz="33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Federated Framework for Extended Engineering Linked Lifecycle Assets Architecture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d1d02b2d58_0_2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d1d02b2d58_0_2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d1d02b2d58_0_2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g3d1d02b2d58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g3d1d02b2d58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9" cy="91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g3d1d02b2d58_0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9" cy="80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d1d02b2d58_0_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5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g3d1d02b2d58_0_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3" cy="45141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d1d02b2d58_0_2"/>
          <p:cNvSpPr txBox="1"/>
          <p:nvPr/>
        </p:nvSpPr>
        <p:spPr>
          <a:xfrm>
            <a:off x="935175" y="2446775"/>
            <a:ext cx="106227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0" i="0" lang="en-GB" sz="33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InfoBIM open source project to check IFC models against engineering standards, by structuring domain knowledge so AI behaves deterministically.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g3d1d4ee3d49_0_222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d1d4ee3d49_0_222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d1d4ee3d49_0_222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g3d1d4ee3d49_0_2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d1d4ee3d49_0_2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g3d1d4ee3d49_0_2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d1d4ee3d49_0_2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d1d4ee3d49_0_2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d1d4ee3d49_0_222"/>
          <p:cNvSpPr txBox="1"/>
          <p:nvPr/>
        </p:nvSpPr>
        <p:spPr>
          <a:xfrm>
            <a:off x="935175" y="2446775"/>
            <a:ext cx="106227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IDS workflow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3d1d02b2d58_0_29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d1d02b2d58_0_29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d1d02b2d58_0_29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g3d1d02b2d58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3d1d02b2d58_0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9" cy="91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3d1d02b2d58_0_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9" cy="80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d1d02b2d58_0_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5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d1d02b2d58_0_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3" cy="451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d1d02b2d58_0_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176450" y="1196162"/>
            <a:ext cx="783907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d1d02b2d58_0_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42033" y="3369387"/>
            <a:ext cx="9307904" cy="17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d1d02b2d58_0_29"/>
          <p:cNvSpPr txBox="1"/>
          <p:nvPr/>
        </p:nvSpPr>
        <p:spPr>
          <a:xfrm>
            <a:off x="784650" y="392450"/>
            <a:ext cx="10622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Brazilian NBR 15808 - Portable Fire Extinguishers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d1d4ee3d49_0_15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d1d4ee3d49_0_15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d1d4ee3d49_0_15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g3d1d4ee3d49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d1d4ee3d49_0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d1d4ee3d49_0_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d1d4ee3d49_0_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d1d4ee3d49_0_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d1d4ee3d49_0_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46065" y="1196138"/>
            <a:ext cx="5299861" cy="42443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d1d4ee3d49_0_15"/>
          <p:cNvSpPr txBox="1"/>
          <p:nvPr/>
        </p:nvSpPr>
        <p:spPr>
          <a:xfrm>
            <a:off x="784650" y="392450"/>
            <a:ext cx="10622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Portable Fire Extinguishers demo ontology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d1d4ee3d49_0_61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d1d4ee3d49_0_61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d1d4ee3d49_0_61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d1d4ee3d49_0_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d1d4ee3d49_0_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d1d4ee3d49_0_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d1d4ee3d49_0_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d1d4ee3d49_0_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d1d4ee3d49_0_6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57833" y="1965175"/>
            <a:ext cx="9476350" cy="29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d1d4ee3d49_0_61"/>
          <p:cNvSpPr txBox="1"/>
          <p:nvPr/>
        </p:nvSpPr>
        <p:spPr>
          <a:xfrm>
            <a:off x="784650" y="392450"/>
            <a:ext cx="10622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Portable Fire Extinguishers RULES demo ontology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d1d4ee3d49_0_2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d1d4ee3d49_0_2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d1d4ee3d49_0_2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d1d4ee3d49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d1d4ee3d49_0_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d1d4ee3d49_0_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d1d4ee3d49_0_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d1d4ee3d49_0_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d1d4ee3d49_0_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76997" y="1138326"/>
            <a:ext cx="7438004" cy="4457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d1d4ee3d49_0_2"/>
          <p:cNvSpPr txBox="1"/>
          <p:nvPr/>
        </p:nvSpPr>
        <p:spPr>
          <a:xfrm>
            <a:off x="784650" y="392450"/>
            <a:ext cx="10622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Portable Fire Extinguishers demo IDS file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d1d4ee3d49_0_114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d1d4ee3d49_0_114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d1d4ee3d49_0_114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g3d1d4ee3d49_0_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d1d4ee3d49_0_1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d1d4ee3d49_0_1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d1d4ee3d49_0_1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d1d4ee3d49_0_1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d1d4ee3d49_0_114"/>
          <p:cNvSpPr txBox="1"/>
          <p:nvPr/>
        </p:nvSpPr>
        <p:spPr>
          <a:xfrm>
            <a:off x="935175" y="2446775"/>
            <a:ext cx="10622700" cy="17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ID</a:t>
            </a:r>
            <a:r>
              <a:rPr b="1" lang="en-GB" sz="4180">
                <a:solidFill>
                  <a:schemeClr val="dk1"/>
                </a:solidFill>
              </a:rPr>
              <a:t>C</a:t>
            </a:r>
            <a:r>
              <a:rPr lang="en-GB" sz="3380">
                <a:solidFill>
                  <a:schemeClr val="dk1"/>
                </a:solidFill>
              </a:rPr>
              <a:t>S workflow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d1d4ee3d49_0_169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d1d4ee3d49_0_169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d1d4ee3d49_0_169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d1d4ee3d49_0_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d1d4ee3d49_0_1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d1d4ee3d49_0_1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d1d4ee3d49_0_1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d1d4ee3d49_0_1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d1d4ee3d49_0_169"/>
          <p:cNvSpPr txBox="1"/>
          <p:nvPr/>
        </p:nvSpPr>
        <p:spPr>
          <a:xfrm>
            <a:off x="784650" y="392450"/>
            <a:ext cx="10622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Brazilian NBR 15808 - Portable Fire Extinguishers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g3d1d4ee3d49_0_1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89163" y="1209850"/>
            <a:ext cx="9613670" cy="15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d1d4ee3d49_0_16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0939" y="3402174"/>
            <a:ext cx="10050125" cy="17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d1d4ee3d49_0_183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d1d4ee3d49_0_183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d1d4ee3d49_0_183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d1d4ee3d49_0_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d1d4ee3d49_0_1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d1d4ee3d49_0_1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d1d4ee3d49_0_1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d1d4ee3d49_0_18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d1d4ee3d49_0_183"/>
          <p:cNvSpPr txBox="1"/>
          <p:nvPr/>
        </p:nvSpPr>
        <p:spPr>
          <a:xfrm>
            <a:off x="784650" y="392450"/>
            <a:ext cx="10622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Portable Fire Extinguishers demo ontology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g3d1d4ee3d49_0_1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43528" y="1196153"/>
            <a:ext cx="5929330" cy="442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g3d1d4ee3d49_0_196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d1d4ee3d49_0_196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d1d4ee3d49_0_196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d1d4ee3d49_0_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d1d4ee3d49_0_1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d1d4ee3d49_0_1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d1d4ee3d49_0_1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d1d4ee3d49_0_19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d1d4ee3d49_0_196"/>
          <p:cNvSpPr txBox="1"/>
          <p:nvPr/>
        </p:nvSpPr>
        <p:spPr>
          <a:xfrm>
            <a:off x="784650" y="392450"/>
            <a:ext cx="10622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Portable Fire Extinguishers RULES demo ontology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d1d4ee3d49_0_19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84580" y="1555855"/>
            <a:ext cx="10022850" cy="3474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d1d4ee3d49_0_209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d1d4ee3d49_0_209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d1d4ee3d49_0_209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g3d1d4ee3d49_0_2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d1d4ee3d49_0_2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d1d4ee3d49_0_2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d1d4ee3d49_0_20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d1d4ee3d49_0_20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d1d4ee3d49_0_209"/>
          <p:cNvSpPr txBox="1"/>
          <p:nvPr/>
        </p:nvSpPr>
        <p:spPr>
          <a:xfrm>
            <a:off x="784650" y="392450"/>
            <a:ext cx="10622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3380">
                <a:solidFill>
                  <a:schemeClr val="dk1"/>
                </a:solidFill>
              </a:rPr>
              <a:t>Portable Fire Extinguishers demo ID</a:t>
            </a:r>
            <a:r>
              <a:rPr b="1" lang="en-GB" sz="4280">
                <a:solidFill>
                  <a:schemeClr val="dk1"/>
                </a:solidFill>
              </a:rPr>
              <a:t>C</a:t>
            </a:r>
            <a:r>
              <a:rPr lang="en-GB" sz="3380">
                <a:solidFill>
                  <a:schemeClr val="dk1"/>
                </a:solidFill>
              </a:rPr>
              <a:t>S file</a:t>
            </a:r>
            <a:endParaRPr b="0" i="0" sz="33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g3d1d4ee3d49_0_20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19038" y="1010087"/>
            <a:ext cx="6553925" cy="2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d1d4ee3d49_0_20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19050" y="3736570"/>
            <a:ext cx="6553899" cy="197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d1d4ee3d49_0_48"/>
          <p:cNvPicPr preferRelativeResize="0"/>
          <p:nvPr/>
        </p:nvPicPr>
        <p:blipFill rotWithShape="1">
          <a:blip r:embed="rId3">
            <a:alphaModFix amt="20000"/>
          </a:blip>
          <a:srcRect b="5644" l="0" r="0" t="9989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d1d4ee3d49_0_48"/>
          <p:cNvSpPr txBox="1"/>
          <p:nvPr/>
        </p:nvSpPr>
        <p:spPr>
          <a:xfrm>
            <a:off x="207079" y="5622606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Sponsored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1d4ee3d49_0_48"/>
          <p:cNvSpPr txBox="1"/>
          <p:nvPr/>
        </p:nvSpPr>
        <p:spPr>
          <a:xfrm>
            <a:off x="6096000" y="5676411"/>
            <a:ext cx="198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Organised by: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g3d1d4ee3d49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331" y="6127760"/>
            <a:ext cx="2069401" cy="215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d1d4ee3d49_0_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9231" y="5805169"/>
            <a:ext cx="1578056" cy="916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d1d4ee3d49_0_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5922" y="5825744"/>
            <a:ext cx="1578056" cy="803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d1d4ee3d49_0_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2674" y="6064258"/>
            <a:ext cx="2515856" cy="45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d1d4ee3d49_0_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30906" y="6041537"/>
            <a:ext cx="2382431" cy="451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SI Colour Palette">
      <a:dk1>
        <a:srgbClr val="000000"/>
      </a:dk1>
      <a:lt1>
        <a:srgbClr val="FFFFFF"/>
      </a:lt1>
      <a:dk2>
        <a:srgbClr val="004F9F"/>
      </a:dk2>
      <a:lt2>
        <a:srgbClr val="E5172A"/>
      </a:lt2>
      <a:accent1>
        <a:srgbClr val="9F3488"/>
      </a:accent1>
      <a:accent2>
        <a:srgbClr val="009EB0"/>
      </a:accent2>
      <a:accent3>
        <a:srgbClr val="E3E3E3"/>
      </a:accent3>
      <a:accent4>
        <a:srgbClr val="344B55"/>
      </a:accent4>
      <a:accent5>
        <a:srgbClr val="48BF91"/>
      </a:accent5>
      <a:accent6>
        <a:srgbClr val="041E4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2024-06-09T19:28:07Z</dcterms:created>
  <dc:creator>Aidan Mercer</dc:creator>
</cp:coreProperties>
</file>